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5"/>
  </p:notesMasterIdLst>
  <p:sldIdLst>
    <p:sldId id="256" r:id="rId2"/>
    <p:sldId id="294" r:id="rId3"/>
    <p:sldId id="295" r:id="rId4"/>
  </p:sldIdLst>
  <p:sldSz cx="9144000" cy="5143500" type="screen16x9"/>
  <p:notesSz cx="6858000" cy="9144000"/>
  <p:embeddedFontLst>
    <p:embeddedFont>
      <p:font typeface="Red Hat Display" panose="020B060402020202020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40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82" y="62"/>
      </p:cViewPr>
      <p:guideLst>
        <p:guide orient="horz" pos="1620"/>
        <p:guide pos="2880"/>
        <p:guide pos="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45946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395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>
            <a:off x="761975" y="3423775"/>
            <a:ext cx="3807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1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59275" y="3438025"/>
            <a:ext cx="3807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 i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3075" y="992400"/>
            <a:ext cx="5682900" cy="21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447725" y="3020700"/>
            <a:ext cx="7233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95600" y="152400"/>
            <a:ext cx="2715887" cy="2715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2200" y="866400"/>
            <a:ext cx="51435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0625" y="3678151"/>
            <a:ext cx="2130598" cy="2130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724" y="4556824"/>
            <a:ext cx="2512000" cy="2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">
  <p:cSld name="TITLE_4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606225" y="269300"/>
            <a:ext cx="8382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638675" y="1089250"/>
            <a:ext cx="3183600" cy="31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4089400" y="1089250"/>
            <a:ext cx="3183600" cy="31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3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59" name="Google Shape;5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with left rule">
  <p:cSld name="TITLE_4_1_1_2_1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2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sp>
        <p:nvSpPr>
          <p:cNvPr id="115" name="Google Shape;115;p12"/>
          <p:cNvSpPr txBox="1">
            <a:spLocks noGrp="1"/>
          </p:cNvSpPr>
          <p:nvPr>
            <p:ph type="subTitle" idx="1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16" name="Google Shape;11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2"/>
          <p:cNvSpPr txBox="1">
            <a:spLocks noGrp="1"/>
          </p:cNvSpPr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2"/>
          <p:cNvCxnSpPr/>
          <p:nvPr/>
        </p:nvCxnSpPr>
        <p:spPr>
          <a:xfrm>
            <a:off x="529825" y="1206450"/>
            <a:ext cx="0" cy="272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2"/>
          <p:cNvCxnSpPr/>
          <p:nvPr/>
        </p:nvCxnSpPr>
        <p:spPr>
          <a:xfrm>
            <a:off x="3362650" y="1206450"/>
            <a:ext cx="0" cy="272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2"/>
          <p:cNvCxnSpPr/>
          <p:nvPr/>
        </p:nvCxnSpPr>
        <p:spPr>
          <a:xfrm>
            <a:off x="6195475" y="1206450"/>
            <a:ext cx="0" cy="272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12"/>
          <p:cNvSpPr txBox="1"/>
          <p:nvPr/>
        </p:nvSpPr>
        <p:spPr>
          <a:xfrm>
            <a:off x="714875" y="1663450"/>
            <a:ext cx="2424300" cy="22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24" name="Google Shape;124;p12"/>
          <p:cNvSpPr txBox="1">
            <a:spLocks noGrp="1"/>
          </p:cNvSpPr>
          <p:nvPr>
            <p:ph type="subTitle" idx="2"/>
          </p:nvPr>
        </p:nvSpPr>
        <p:spPr>
          <a:xfrm>
            <a:off x="688825" y="1134050"/>
            <a:ext cx="25119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25" name="Google Shape;125;p12"/>
          <p:cNvSpPr txBox="1">
            <a:spLocks noGrp="1"/>
          </p:cNvSpPr>
          <p:nvPr>
            <p:ph type="body" idx="3"/>
          </p:nvPr>
        </p:nvSpPr>
        <p:spPr>
          <a:xfrm>
            <a:off x="688825" y="1671075"/>
            <a:ext cx="2511900" cy="22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26" name="Google Shape;126;p12"/>
          <p:cNvSpPr txBox="1">
            <a:spLocks noGrp="1"/>
          </p:cNvSpPr>
          <p:nvPr>
            <p:ph type="subTitle" idx="4"/>
          </p:nvPr>
        </p:nvSpPr>
        <p:spPr>
          <a:xfrm>
            <a:off x="3526300" y="1134050"/>
            <a:ext cx="25119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body" idx="5"/>
          </p:nvPr>
        </p:nvSpPr>
        <p:spPr>
          <a:xfrm>
            <a:off x="3526300" y="1671075"/>
            <a:ext cx="2511900" cy="22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subTitle" idx="6"/>
          </p:nvPr>
        </p:nvSpPr>
        <p:spPr>
          <a:xfrm>
            <a:off x="6363775" y="1134050"/>
            <a:ext cx="25119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body" idx="7"/>
          </p:nvPr>
        </p:nvSpPr>
        <p:spPr>
          <a:xfrm>
            <a:off x="6363775" y="1671075"/>
            <a:ext cx="2511900" cy="22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ITLE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>
            <a:spLocks noGrp="1"/>
          </p:cNvSpPr>
          <p:nvPr>
            <p:ph type="ctrTitle"/>
          </p:nvPr>
        </p:nvSpPr>
        <p:spPr>
          <a:xfrm>
            <a:off x="2093850" y="859575"/>
            <a:ext cx="4956300" cy="17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1975" y="3423775"/>
            <a:ext cx="3807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1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57188" y="4400095"/>
            <a:ext cx="2829624" cy="33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/>
          <p:cNvPicPr preferRelativeResize="0"/>
          <p:nvPr/>
        </p:nvPicPr>
        <p:blipFill rotWithShape="1">
          <a:blip r:embed="rId3">
            <a:alphaModFix/>
          </a:blip>
          <a:srcRect t="19112"/>
          <a:stretch/>
        </p:blipFill>
        <p:spPr>
          <a:xfrm>
            <a:off x="-1530325" y="3251200"/>
            <a:ext cx="12103050" cy="68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SECTION_HEADER_1_1_1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165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 txBox="1">
            <a:spLocks noGrp="1"/>
          </p:cNvSpPr>
          <p:nvPr>
            <p:ph type="title"/>
          </p:nvPr>
        </p:nvSpPr>
        <p:spPr>
          <a:xfrm>
            <a:off x="761975" y="0"/>
            <a:ext cx="7623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None/>
              <a:defRPr sz="68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3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165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>
            <a:spLocks noGrp="1"/>
          </p:cNvSpPr>
          <p:nvPr>
            <p:ph type="title"/>
          </p:nvPr>
        </p:nvSpPr>
        <p:spPr>
          <a:xfrm>
            <a:off x="761975" y="0"/>
            <a:ext cx="7623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None/>
              <a:defRPr sz="6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Boxes">
  <p:cSld name="TITLE_ONLY_1_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/>
          <p:nvPr/>
        </p:nvSpPr>
        <p:spPr>
          <a:xfrm>
            <a:off x="654225" y="1297000"/>
            <a:ext cx="2418300" cy="23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3362892" y="1297000"/>
            <a:ext cx="2418300" cy="23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6071559" y="1297000"/>
            <a:ext cx="2418300" cy="23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 txBox="1">
            <a:spLocks noGrp="1"/>
          </p:cNvSpPr>
          <p:nvPr>
            <p:ph type="subTitle" idx="1"/>
          </p:nvPr>
        </p:nvSpPr>
        <p:spPr>
          <a:xfrm>
            <a:off x="654250" y="1297000"/>
            <a:ext cx="2418300" cy="2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ubTitle" idx="2"/>
          </p:nvPr>
        </p:nvSpPr>
        <p:spPr>
          <a:xfrm>
            <a:off x="3362900" y="1297000"/>
            <a:ext cx="2418300" cy="2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subTitle" idx="3"/>
          </p:nvPr>
        </p:nvSpPr>
        <p:spPr>
          <a:xfrm>
            <a:off x="6071575" y="1297000"/>
            <a:ext cx="2418300" cy="2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pic>
        <p:nvPicPr>
          <p:cNvPr id="174" name="Google Shape;17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>
            <a:spLocks noGrp="1"/>
          </p:cNvSpPr>
          <p:nvPr>
            <p:ph type="subTitle" idx="4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>
            <a:spLocks noGrp="1"/>
          </p:cNvSpPr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12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ramatic Text and Photo">
  <p:cSld name="MAIN_POINT_2_2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>
            <a:spLocks noGrp="1"/>
          </p:cNvSpPr>
          <p:nvPr>
            <p:ph type="title"/>
          </p:nvPr>
        </p:nvSpPr>
        <p:spPr>
          <a:xfrm>
            <a:off x="397925" y="0"/>
            <a:ext cx="3344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2"/>
          <p:cNvSpPr>
            <a:spLocks noGrp="1"/>
          </p:cNvSpPr>
          <p:nvPr>
            <p:ph type="pic" idx="2"/>
          </p:nvPr>
        </p:nvSpPr>
        <p:spPr>
          <a:xfrm>
            <a:off x="2633150" y="-127000"/>
            <a:ext cx="7450800" cy="5397600"/>
          </a:xfrm>
          <a:prstGeom prst="chevron">
            <a:avLst>
              <a:gd name="adj" fmla="val 50000"/>
            </a:avLst>
          </a:prstGeom>
          <a:noFill/>
          <a:ln>
            <a:noFill/>
          </a:ln>
          <a:effectLst>
            <a:outerShdw blurRad="171450" dist="19050" dir="5400000" algn="bl" rotWithShape="0">
              <a:srgbClr val="000000">
                <a:alpha val="7843"/>
              </a:srgbClr>
            </a:outerShdw>
          </a:effectLst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ramatic Text and Photo 3">
  <p:cSld name="MAIN_POINT_2_2_1_1">
    <p:bg>
      <p:bgPr>
        <a:solidFill>
          <a:srgbClr val="000000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>
            <a:spLocks noGrp="1"/>
          </p:cNvSpPr>
          <p:nvPr>
            <p:ph type="title"/>
          </p:nvPr>
        </p:nvSpPr>
        <p:spPr>
          <a:xfrm>
            <a:off x="397925" y="0"/>
            <a:ext cx="3344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23"/>
          <p:cNvSpPr>
            <a:spLocks noGrp="1"/>
          </p:cNvSpPr>
          <p:nvPr>
            <p:ph type="pic" idx="2"/>
          </p:nvPr>
        </p:nvSpPr>
        <p:spPr>
          <a:xfrm>
            <a:off x="2582350" y="-118525"/>
            <a:ext cx="7450800" cy="5380500"/>
          </a:xfrm>
          <a:prstGeom prst="chevron">
            <a:avLst>
              <a:gd name="adj" fmla="val 50000"/>
            </a:avLst>
          </a:prstGeom>
          <a:noFill/>
          <a:ln>
            <a:noFill/>
          </a:ln>
          <a:effectLst>
            <a:outerShdw blurRad="200025" dist="19050" dir="5400000" algn="bl" rotWithShape="0">
              <a:srgbClr val="000000">
                <a:alpha val="2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61975" y="0"/>
            <a:ext cx="76230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Source Sans Pro"/>
              <a:buNone/>
              <a:defRPr sz="34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61975" y="1719075"/>
            <a:ext cx="7623000" cy="25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  <a:defRPr sz="13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urce Sans Pro"/>
              <a:buChar char="○"/>
              <a:defRPr sz="10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●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○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9997" y="4297674"/>
            <a:ext cx="7650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spd="slow" p14:dur="1100">
        <p:push dir="r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960">
          <p15:clr>
            <a:srgbClr val="EA4335"/>
          </p15:clr>
        </p15:guide>
        <p15:guide id="3" pos="1920">
          <p15:clr>
            <a:srgbClr val="EA4335"/>
          </p15:clr>
        </p15:guide>
        <p15:guide id="4" pos="3840">
          <p15:clr>
            <a:srgbClr val="EA4335"/>
          </p15:clr>
        </p15:guide>
        <p15:guide id="5" pos="4800">
          <p15:clr>
            <a:srgbClr val="EA4335"/>
          </p15:clr>
        </p15:guide>
        <p15:guide id="6" orient="horz" pos="541">
          <p15:clr>
            <a:srgbClr val="EA4335"/>
          </p15:clr>
        </p15:guide>
        <p15:guide id="7" orient="horz" pos="1083">
          <p15:clr>
            <a:srgbClr val="EA4335"/>
          </p15:clr>
        </p15:guide>
        <p15:guide id="8" orient="horz" pos="1624">
          <p15:clr>
            <a:srgbClr val="EA4335"/>
          </p15:clr>
        </p15:guide>
        <p15:guide id="9" orient="horz" pos="2166">
          <p15:clr>
            <a:srgbClr val="EA4335"/>
          </p15:clr>
        </p15:guide>
        <p15:guide id="10" orient="horz" pos="2707">
          <p15:clr>
            <a:srgbClr val="EA4335"/>
          </p15:clr>
        </p15:guide>
        <p15:guide id="11" pos="480">
          <p15:clr>
            <a:srgbClr val="EA4335"/>
          </p15:clr>
        </p15:guide>
        <p15:guide id="12" pos="1440">
          <p15:clr>
            <a:srgbClr val="EA4335"/>
          </p15:clr>
        </p15:guide>
        <p15:guide id="13" pos="2408">
          <p15:clr>
            <a:srgbClr val="EA4335"/>
          </p15:clr>
        </p15:guide>
        <p15:guide id="14" pos="4320">
          <p15:clr>
            <a:srgbClr val="EA4335"/>
          </p15:clr>
        </p15:guide>
        <p15:guide id="15" pos="3358">
          <p15:clr>
            <a:srgbClr val="EA4335"/>
          </p15:clr>
        </p15:guide>
        <p15:guide id="16" pos="528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>
            <a:spLocks noGrp="1"/>
          </p:cNvSpPr>
          <p:nvPr>
            <p:ph type="ctrTitle"/>
          </p:nvPr>
        </p:nvSpPr>
        <p:spPr>
          <a:xfrm>
            <a:off x="413074" y="316570"/>
            <a:ext cx="6194203" cy="22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3600" dirty="0"/>
              <a:t>Food Context Classification using Transfer Learning</a:t>
            </a:r>
            <a:endParaRPr sz="3600" dirty="0">
              <a:solidFill>
                <a:srgbClr val="282828"/>
              </a:solidFill>
            </a:endParaRPr>
          </a:p>
        </p:txBody>
      </p:sp>
      <p:sp>
        <p:nvSpPr>
          <p:cNvPr id="192" name="Google Shape;192;p24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91;p24"/>
          <p:cNvSpPr txBox="1">
            <a:spLocks noGrp="1"/>
          </p:cNvSpPr>
          <p:nvPr>
            <p:ph type="subTitle" idx="2"/>
          </p:nvPr>
        </p:nvSpPr>
        <p:spPr>
          <a:xfrm>
            <a:off x="413074" y="2843096"/>
            <a:ext cx="7233600" cy="72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sz="2000" dirty="0" smtClean="0"/>
              <a:t>Presenter – Raj Kamal </a:t>
            </a:r>
            <a:r>
              <a:rPr lang="en-US" sz="2000" dirty="0" smtClean="0"/>
              <a:t>Singh</a:t>
            </a:r>
          </a:p>
          <a:p>
            <a:pPr marL="0" lvl="0" indent="0"/>
            <a:r>
              <a:rPr lang="en-US" sz="2000" dirty="0" smtClean="0"/>
              <a:t>Group - 8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 smtClean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lang="en" sz="1300" b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Food Context Classification using Transfer Learning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Application </a:t>
            </a:r>
            <a:r>
              <a:rPr lang="en-US" b="1" dirty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Dataset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 </a:t>
            </a:r>
            <a:r>
              <a:rPr lang="en-US" b="1" dirty="0" smtClean="0">
                <a:solidFill>
                  <a:schemeClr val="tx1"/>
                </a:solidFill>
              </a:rPr>
              <a:t>Split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"/>
          <p:cNvSpPr>
            <a:spLocks noGrp="1" noChangeArrowheads="1"/>
          </p:cNvSpPr>
          <p:nvPr>
            <p:ph type="body" idx="3"/>
          </p:nvPr>
        </p:nvSpPr>
        <p:spPr bwMode="auto">
          <a:xfrm>
            <a:off x="688825" y="1526452"/>
            <a:ext cx="264016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Classify food images into: </a:t>
            </a:r>
          </a:p>
          <a:p>
            <a:pPr marL="22860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Home-cooked </a:t>
            </a:r>
          </a:p>
          <a:p>
            <a:pPr marL="22860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 </a:t>
            </a:r>
          </a:p>
          <a:p>
            <a:pPr marL="22860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just object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variability: </a:t>
            </a:r>
          </a:p>
          <a:p>
            <a:pPr marL="22860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lighting changes </a:t>
            </a:r>
          </a:p>
          <a:p>
            <a:pPr marL="22860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cluttered backgrounds </a:t>
            </a:r>
          </a:p>
          <a:p>
            <a:pPr marL="22860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different </a:t>
            </a:r>
            <a:r>
              <a:rPr lang="en-US" altLang="en-US" sz="1600" dirty="0" smtClean="0">
                <a:solidFill>
                  <a:schemeClr val="tx1"/>
                </a:solidFill>
                <a:latin typeface="Arial" panose="020B0604020202020204" pitchFamily="34" charset="0"/>
              </a:rPr>
              <a:t>angles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body" idx="5"/>
          </p:nvPr>
        </p:nvSpPr>
        <p:spPr bwMode="auto">
          <a:xfrm>
            <a:off x="3526300" y="1526452"/>
            <a:ext cx="2595894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 </a:t>
            </a:r>
          </a:p>
          <a:p>
            <a:pPr marL="22860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Web-scraped images </a:t>
            </a:r>
          </a:p>
          <a:p>
            <a:pPr marL="22860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Optional self-captured photos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Size: </a:t>
            </a:r>
          </a:p>
          <a:p>
            <a:pPr marL="22860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~300–450 images </a:t>
            </a:r>
          </a:p>
          <a:p>
            <a:pPr marL="22860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~100–150 per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body" idx="7"/>
          </p:nvPr>
        </p:nvSpPr>
        <p:spPr bwMode="auto">
          <a:xfrm>
            <a:off x="6363775" y="1526452"/>
            <a:ext cx="17379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Train: 70%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Validation: 15%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Test: 15% </a:t>
            </a:r>
          </a:p>
        </p:txBody>
      </p:sp>
    </p:spTree>
    <p:extLst>
      <p:ext uri="{BB962C8B-B14F-4D97-AF65-F5344CB8AC3E}">
        <p14:creationId xmlns:p14="http://schemas.microsoft.com/office/powerpoint/2010/main" val="186546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and Experimental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74" y="1089250"/>
            <a:ext cx="4033339" cy="2003994"/>
          </a:xfrm>
        </p:spPr>
        <p:txBody>
          <a:bodyPr/>
          <a:lstStyle/>
          <a:p>
            <a:pPr marL="76200" indent="0">
              <a:buNone/>
            </a:pPr>
            <a:r>
              <a:rPr lang="en-US" sz="1600" b="1" dirty="0" smtClean="0">
                <a:solidFill>
                  <a:schemeClr val="tx1"/>
                </a:solidFill>
              </a:rPr>
              <a:t>Model: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Pretrained</a:t>
            </a:r>
            <a:r>
              <a:rPr lang="en-US" sz="1600" dirty="0">
                <a:solidFill>
                  <a:schemeClr val="tx1"/>
                </a:solidFill>
              </a:rPr>
              <a:t> ResNet-50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Fine-tuned on our dataset </a:t>
            </a:r>
            <a:endParaRPr lang="en-US" sz="1600" b="1" dirty="0" smtClean="0">
              <a:solidFill>
                <a:schemeClr val="tx1"/>
              </a:solidFill>
            </a:endParaRPr>
          </a:p>
          <a:p>
            <a:pPr marL="76200" indent="0">
              <a:buNone/>
            </a:pPr>
            <a:r>
              <a:rPr lang="en-US" sz="1600" b="1" dirty="0" smtClean="0">
                <a:solidFill>
                  <a:schemeClr val="tx1"/>
                </a:solidFill>
              </a:rPr>
              <a:t>Why </a:t>
            </a:r>
            <a:r>
              <a:rPr lang="en-US" sz="1600" b="1" dirty="0">
                <a:solidFill>
                  <a:schemeClr val="tx1"/>
                </a:solidFill>
              </a:rPr>
              <a:t>ResNet-50?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Strong baseline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Balanced complexity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Works well with moderate data</a:t>
            </a:r>
          </a:p>
          <a:p>
            <a:pPr marL="76200" indent="0"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079206" y="1089250"/>
            <a:ext cx="3909019" cy="1875406"/>
          </a:xfrm>
        </p:spPr>
        <p:txBody>
          <a:bodyPr/>
          <a:lstStyle/>
          <a:p>
            <a:pPr marL="7620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Training Configurations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Baseline (no augmentation)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Augmentation (flip, rotation, color jitter)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Synthetic data (noise, blur, lighting)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Augmentation + synthetic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 smtClean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lang="en" sz="1300" b="0"/>
          </a:p>
        </p:txBody>
      </p:sp>
      <p:sp>
        <p:nvSpPr>
          <p:cNvPr id="6" name="Subtitle 5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/>
          <p:cNvSpPr txBox="1">
            <a:spLocks/>
          </p:cNvSpPr>
          <p:nvPr/>
        </p:nvSpPr>
        <p:spPr>
          <a:xfrm>
            <a:off x="3279179" y="3193256"/>
            <a:ext cx="2678710" cy="1408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  <a:defRPr sz="13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urce Sans Pro"/>
              <a:buChar char="○"/>
              <a:defRPr sz="10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●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○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7620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Evaluation</a:t>
            </a:r>
            <a:endParaRPr lang="en-US" sz="1800" b="1" dirty="0" smtClean="0">
              <a:solidFill>
                <a:schemeClr val="tx1"/>
              </a:solidFill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Accuracy &amp; loss curves 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Confusion matrix 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Baseline vs best comparison 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Robustness testing 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606225" y="3193256"/>
            <a:ext cx="7980563" cy="142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579144" y="1089250"/>
            <a:ext cx="0" cy="20325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777652"/>
      </p:ext>
    </p:extLst>
  </p:cSld>
  <p:clrMapOvr>
    <a:masterClrMapping/>
  </p:clrMapOvr>
</p:sld>
</file>

<file path=ppt/theme/theme1.xml><?xml version="1.0" encoding="utf-8"?>
<a:theme xmlns:a="http://schemas.openxmlformats.org/drawingml/2006/main" name="Fearlessly Forward / LIGHT">
  <a:themeElements>
    <a:clrScheme name="Simple Light">
      <a:dk1>
        <a:srgbClr val="000000"/>
      </a:dk1>
      <a:lt1>
        <a:srgbClr val="FFFFFF"/>
      </a:lt1>
      <a:dk2>
        <a:srgbClr val="636363"/>
      </a:dk2>
      <a:lt2>
        <a:srgbClr val="E6E6E6"/>
      </a:lt2>
      <a:accent1>
        <a:srgbClr val="E21833"/>
      </a:accent1>
      <a:accent2>
        <a:srgbClr val="A41124"/>
      </a:accent2>
      <a:accent3>
        <a:srgbClr val="820E1D"/>
      </a:accent3>
      <a:accent4>
        <a:srgbClr val="FFD200"/>
      </a:accent4>
      <a:accent5>
        <a:srgbClr val="CBA700"/>
      </a:accent5>
      <a:accent6>
        <a:srgbClr val="715D00"/>
      </a:accent6>
      <a:hlink>
        <a:srgbClr val="E218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145</Words>
  <Application>Microsoft Office PowerPoint</Application>
  <PresentationFormat>On-screen Show (16:9)</PresentationFormat>
  <Paragraphs>46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Source Sans Pro</vt:lpstr>
      <vt:lpstr>Arial</vt:lpstr>
      <vt:lpstr>Red Hat Display</vt:lpstr>
      <vt:lpstr>Fearlessly Forward / LIGHT</vt:lpstr>
      <vt:lpstr>Food Context Classification using Transfer Learning</vt:lpstr>
      <vt:lpstr>Food Context Classification using Transfer Learning</vt:lpstr>
      <vt:lpstr>Model and Experimental Plan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THEME</dc:title>
  <cp:lastModifiedBy>Raj Kamal Singh</cp:lastModifiedBy>
  <cp:revision>27</cp:revision>
  <dcterms:modified xsi:type="dcterms:W3CDTF">2026-04-25T03:01:23Z</dcterms:modified>
</cp:coreProperties>
</file>